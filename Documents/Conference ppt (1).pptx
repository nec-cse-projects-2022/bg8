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" y="0"/>
            <a:ext cx="12192003" cy="435140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4" y="0"/>
            <a:ext cx="12192004" cy="43514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9619" y="1470152"/>
            <a:ext cx="9852761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2271" y="1519885"/>
            <a:ext cx="9636760" cy="249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7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7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51142"/>
            <a:ext cx="12192000" cy="20068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55719" y="420065"/>
            <a:ext cx="348234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2025 IEEE</a:t>
            </a:r>
            <a:r>
              <a:rPr dirty="0" sz="3600" spc="-10"/>
              <a:t> iSSSC</a:t>
            </a:r>
            <a:endParaRPr sz="3600"/>
          </a:p>
        </p:txBody>
      </p:sp>
      <p:sp>
        <p:nvSpPr>
          <p:cNvPr id="4" name="object 4" descr=""/>
          <p:cNvSpPr txBox="1"/>
          <p:nvPr/>
        </p:nvSpPr>
        <p:spPr>
          <a:xfrm>
            <a:off x="2161539" y="1140333"/>
            <a:ext cx="8293100" cy="54673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3407410" marR="17780" indent="-3382010">
              <a:lnSpc>
                <a:spcPts val="1939"/>
              </a:lnSpc>
              <a:spcBef>
                <a:spcPts val="345"/>
              </a:spcBef>
            </a:pPr>
            <a:r>
              <a:rPr dirty="0" sz="1800" b="1">
                <a:latin typeface="Times New Roman"/>
                <a:cs typeface="Times New Roman"/>
              </a:rPr>
              <a:t>2025</a:t>
            </a:r>
            <a:r>
              <a:rPr dirty="0" sz="1800" spc="-4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IEEE</a:t>
            </a:r>
            <a:r>
              <a:rPr dirty="0" sz="1800" spc="-3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3</a:t>
            </a:r>
            <a:r>
              <a:rPr dirty="0" baseline="25462" sz="1800" b="1">
                <a:latin typeface="Times New Roman"/>
                <a:cs typeface="Times New Roman"/>
              </a:rPr>
              <a:t>rd</a:t>
            </a:r>
            <a:r>
              <a:rPr dirty="0" baseline="25462" sz="1800" spc="172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International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Symposium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on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Sustainable</a:t>
            </a:r>
            <a:r>
              <a:rPr dirty="0" sz="1800" spc="-20" b="1">
                <a:latin typeface="Times New Roman"/>
                <a:cs typeface="Times New Roman"/>
              </a:rPr>
              <a:t> </a:t>
            </a:r>
            <a:r>
              <a:rPr dirty="0" sz="1800" spc="-10" b="1">
                <a:latin typeface="Times New Roman"/>
                <a:cs typeface="Times New Roman"/>
              </a:rPr>
              <a:t>Energy,</a:t>
            </a:r>
            <a:r>
              <a:rPr dirty="0" sz="1800" spc="-5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Signal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Processing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spc="-50" b="1">
                <a:latin typeface="Times New Roman"/>
                <a:cs typeface="Times New Roman"/>
              </a:rPr>
              <a:t>&amp; </a:t>
            </a:r>
            <a:r>
              <a:rPr dirty="0" sz="1800" spc="-10" b="1">
                <a:latin typeface="Times New Roman"/>
                <a:cs typeface="Times New Roman"/>
              </a:rPr>
              <a:t>CyberSecurity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50306" y="2685845"/>
            <a:ext cx="2184404" cy="158905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54252" y="2685845"/>
            <a:ext cx="1811399" cy="15890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66516" y="2579071"/>
            <a:ext cx="2146589" cy="180587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794376" y="19554"/>
            <a:ext cx="1343061" cy="74075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40" y="61539"/>
            <a:ext cx="1224781" cy="658747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638962" y="5195392"/>
            <a:ext cx="1091120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Paper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Title:</a:t>
            </a:r>
            <a:r>
              <a:rPr dirty="0" sz="1800" spc="-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Feature-Optimized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Ensemble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Diabetic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Retinopathy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via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CNN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APSO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Integration</a:t>
            </a:r>
            <a:endParaRPr sz="180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Times New Roman"/>
                <a:cs typeface="Times New Roman"/>
              </a:rPr>
              <a:t>Paper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ID: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655</a:t>
            </a:r>
            <a:endParaRPr sz="1800">
              <a:latin typeface="Times New Roman"/>
              <a:cs typeface="Times New Roman"/>
            </a:endParaRPr>
          </a:p>
          <a:p>
            <a:pPr algn="ctr" marL="889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Presenter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Name: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Meera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Jasmine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Shaik</a:t>
            </a:r>
            <a:endParaRPr sz="1800">
              <a:latin typeface="Times New Roman"/>
              <a:cs typeface="Times New Roman"/>
            </a:endParaRPr>
          </a:p>
          <a:p>
            <a:pPr algn="ctr" marL="127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Authors: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Meera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Jasmine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Shaik,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Ramesh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Abburi,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Lakshmi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Prasanna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Pentyala,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Sireesha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Moturi,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Jayasri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Gorre.</a:t>
            </a:r>
            <a:endParaRPr sz="1800">
              <a:latin typeface="Times New Roman"/>
              <a:cs typeface="Times New Roman"/>
            </a:endParaRPr>
          </a:p>
          <a:p>
            <a:pPr algn="ctr" marL="127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Affiliation:</a:t>
            </a:r>
            <a:r>
              <a:rPr dirty="0" sz="1800" spc="-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Narasaraopeta</a:t>
            </a:r>
            <a:r>
              <a:rPr dirty="0" sz="1800" spc="-9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Engineering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College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5779" y="0"/>
              <a:ext cx="11338541" cy="6857997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626440"/>
            <a:ext cx="182943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"/>
              <a:t>Outline</a:t>
            </a:r>
            <a:endParaRPr sz="4400"/>
          </a:p>
        </p:txBody>
      </p:sp>
      <p:grpSp>
        <p:nvGrpSpPr>
          <p:cNvPr id="6" name="object 6" descr=""/>
          <p:cNvGrpSpPr/>
          <p:nvPr/>
        </p:nvGrpSpPr>
        <p:grpSpPr>
          <a:xfrm>
            <a:off x="838200" y="1827022"/>
            <a:ext cx="10515600" cy="4349115"/>
            <a:chOff x="838200" y="1827022"/>
            <a:chExt cx="10515600" cy="4349115"/>
          </a:xfrm>
        </p:grpSpPr>
        <p:sp>
          <p:nvSpPr>
            <p:cNvPr id="7" name="object 7" descr=""/>
            <p:cNvSpPr/>
            <p:nvPr/>
          </p:nvSpPr>
          <p:spPr>
            <a:xfrm>
              <a:off x="838200" y="1827022"/>
              <a:ext cx="10515600" cy="600075"/>
            </a:xfrm>
            <a:custGeom>
              <a:avLst/>
              <a:gdLst/>
              <a:ahLst/>
              <a:cxnLst/>
              <a:rect l="l" t="t" r="r" b="b"/>
              <a:pathLst>
                <a:path w="10515600" h="600075">
                  <a:moveTo>
                    <a:pt x="10455656" y="0"/>
                  </a:moveTo>
                  <a:lnTo>
                    <a:pt x="59982" y="0"/>
                  </a:lnTo>
                  <a:lnTo>
                    <a:pt x="36636" y="4722"/>
                  </a:lnTo>
                  <a:lnTo>
                    <a:pt x="17570" y="17589"/>
                  </a:lnTo>
                  <a:lnTo>
                    <a:pt x="4714" y="36647"/>
                  </a:lnTo>
                  <a:lnTo>
                    <a:pt x="0" y="59943"/>
                  </a:lnTo>
                  <a:lnTo>
                    <a:pt x="0" y="539876"/>
                  </a:lnTo>
                  <a:lnTo>
                    <a:pt x="4714" y="563173"/>
                  </a:lnTo>
                  <a:lnTo>
                    <a:pt x="17570" y="582231"/>
                  </a:lnTo>
                  <a:lnTo>
                    <a:pt x="36636" y="595098"/>
                  </a:lnTo>
                  <a:lnTo>
                    <a:pt x="59982" y="599820"/>
                  </a:lnTo>
                  <a:lnTo>
                    <a:pt x="10455656" y="599820"/>
                  </a:lnTo>
                  <a:lnTo>
                    <a:pt x="10479006" y="595098"/>
                  </a:lnTo>
                  <a:lnTo>
                    <a:pt x="10498058" y="582231"/>
                  </a:lnTo>
                  <a:lnTo>
                    <a:pt x="10510895" y="563173"/>
                  </a:lnTo>
                  <a:lnTo>
                    <a:pt x="10515600" y="539876"/>
                  </a:lnTo>
                  <a:lnTo>
                    <a:pt x="10515600" y="59943"/>
                  </a:lnTo>
                  <a:lnTo>
                    <a:pt x="10510895" y="36647"/>
                  </a:lnTo>
                  <a:lnTo>
                    <a:pt x="10498058" y="17589"/>
                  </a:lnTo>
                  <a:lnTo>
                    <a:pt x="10479006" y="4722"/>
                  </a:lnTo>
                  <a:lnTo>
                    <a:pt x="10455656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62400" y="1989580"/>
              <a:ext cx="245115" cy="27591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838200" y="2576830"/>
              <a:ext cx="10515600" cy="600075"/>
            </a:xfrm>
            <a:custGeom>
              <a:avLst/>
              <a:gdLst/>
              <a:ahLst/>
              <a:cxnLst/>
              <a:rect l="l" t="t" r="r" b="b"/>
              <a:pathLst>
                <a:path w="10515600" h="600075">
                  <a:moveTo>
                    <a:pt x="10455656" y="0"/>
                  </a:moveTo>
                  <a:lnTo>
                    <a:pt x="59982" y="0"/>
                  </a:lnTo>
                  <a:lnTo>
                    <a:pt x="36636" y="4704"/>
                  </a:lnTo>
                  <a:lnTo>
                    <a:pt x="17570" y="17541"/>
                  </a:lnTo>
                  <a:lnTo>
                    <a:pt x="4714" y="36593"/>
                  </a:lnTo>
                  <a:lnTo>
                    <a:pt x="0" y="59944"/>
                  </a:lnTo>
                  <a:lnTo>
                    <a:pt x="0" y="539750"/>
                  </a:lnTo>
                  <a:lnTo>
                    <a:pt x="4714" y="563100"/>
                  </a:lnTo>
                  <a:lnTo>
                    <a:pt x="17570" y="582152"/>
                  </a:lnTo>
                  <a:lnTo>
                    <a:pt x="36636" y="594989"/>
                  </a:lnTo>
                  <a:lnTo>
                    <a:pt x="59982" y="599694"/>
                  </a:lnTo>
                  <a:lnTo>
                    <a:pt x="10455656" y="599694"/>
                  </a:lnTo>
                  <a:lnTo>
                    <a:pt x="10479006" y="594989"/>
                  </a:lnTo>
                  <a:lnTo>
                    <a:pt x="10498058" y="582152"/>
                  </a:lnTo>
                  <a:lnTo>
                    <a:pt x="10510895" y="563100"/>
                  </a:lnTo>
                  <a:lnTo>
                    <a:pt x="10515600" y="539750"/>
                  </a:lnTo>
                  <a:lnTo>
                    <a:pt x="10515600" y="59944"/>
                  </a:lnTo>
                  <a:lnTo>
                    <a:pt x="10510895" y="36593"/>
                  </a:lnTo>
                  <a:lnTo>
                    <a:pt x="10498058" y="17541"/>
                  </a:lnTo>
                  <a:lnTo>
                    <a:pt x="10479006" y="4704"/>
                  </a:lnTo>
                  <a:lnTo>
                    <a:pt x="10455656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4801" y="2732589"/>
              <a:ext cx="180635" cy="289513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838200" y="3326511"/>
              <a:ext cx="10515600" cy="600075"/>
            </a:xfrm>
            <a:custGeom>
              <a:avLst/>
              <a:gdLst/>
              <a:ahLst/>
              <a:cxnLst/>
              <a:rect l="l" t="t" r="r" b="b"/>
              <a:pathLst>
                <a:path w="10515600" h="600075">
                  <a:moveTo>
                    <a:pt x="10455656" y="0"/>
                  </a:moveTo>
                  <a:lnTo>
                    <a:pt x="59982" y="0"/>
                  </a:lnTo>
                  <a:lnTo>
                    <a:pt x="36636" y="4722"/>
                  </a:lnTo>
                  <a:lnTo>
                    <a:pt x="17570" y="17589"/>
                  </a:lnTo>
                  <a:lnTo>
                    <a:pt x="4714" y="36647"/>
                  </a:lnTo>
                  <a:lnTo>
                    <a:pt x="0" y="59943"/>
                  </a:lnTo>
                  <a:lnTo>
                    <a:pt x="0" y="539876"/>
                  </a:lnTo>
                  <a:lnTo>
                    <a:pt x="4714" y="563173"/>
                  </a:lnTo>
                  <a:lnTo>
                    <a:pt x="17570" y="582231"/>
                  </a:lnTo>
                  <a:lnTo>
                    <a:pt x="36636" y="595098"/>
                  </a:lnTo>
                  <a:lnTo>
                    <a:pt x="59982" y="599820"/>
                  </a:lnTo>
                  <a:lnTo>
                    <a:pt x="10455656" y="599820"/>
                  </a:lnTo>
                  <a:lnTo>
                    <a:pt x="10479006" y="595098"/>
                  </a:lnTo>
                  <a:lnTo>
                    <a:pt x="10498058" y="582231"/>
                  </a:lnTo>
                  <a:lnTo>
                    <a:pt x="10510895" y="563173"/>
                  </a:lnTo>
                  <a:lnTo>
                    <a:pt x="10515600" y="539876"/>
                  </a:lnTo>
                  <a:lnTo>
                    <a:pt x="10515600" y="59943"/>
                  </a:lnTo>
                  <a:lnTo>
                    <a:pt x="10510895" y="36647"/>
                  </a:lnTo>
                  <a:lnTo>
                    <a:pt x="10498058" y="17589"/>
                  </a:lnTo>
                  <a:lnTo>
                    <a:pt x="10479006" y="4722"/>
                  </a:lnTo>
                  <a:lnTo>
                    <a:pt x="10455656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8006" y="3495867"/>
              <a:ext cx="194226" cy="262319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838200" y="4076319"/>
              <a:ext cx="10515600" cy="600075"/>
            </a:xfrm>
            <a:custGeom>
              <a:avLst/>
              <a:gdLst/>
              <a:ahLst/>
              <a:cxnLst/>
              <a:rect l="l" t="t" r="r" b="b"/>
              <a:pathLst>
                <a:path w="10515600" h="600075">
                  <a:moveTo>
                    <a:pt x="10455656" y="0"/>
                  </a:moveTo>
                  <a:lnTo>
                    <a:pt x="59982" y="0"/>
                  </a:lnTo>
                  <a:lnTo>
                    <a:pt x="36636" y="4704"/>
                  </a:lnTo>
                  <a:lnTo>
                    <a:pt x="17570" y="17541"/>
                  </a:lnTo>
                  <a:lnTo>
                    <a:pt x="4714" y="36593"/>
                  </a:lnTo>
                  <a:lnTo>
                    <a:pt x="0" y="59943"/>
                  </a:lnTo>
                  <a:lnTo>
                    <a:pt x="0" y="539749"/>
                  </a:lnTo>
                  <a:lnTo>
                    <a:pt x="4714" y="563100"/>
                  </a:lnTo>
                  <a:lnTo>
                    <a:pt x="17570" y="582152"/>
                  </a:lnTo>
                  <a:lnTo>
                    <a:pt x="36636" y="594989"/>
                  </a:lnTo>
                  <a:lnTo>
                    <a:pt x="59982" y="599693"/>
                  </a:lnTo>
                  <a:lnTo>
                    <a:pt x="10455656" y="599693"/>
                  </a:lnTo>
                  <a:lnTo>
                    <a:pt x="10479006" y="594989"/>
                  </a:lnTo>
                  <a:lnTo>
                    <a:pt x="10498058" y="582152"/>
                  </a:lnTo>
                  <a:lnTo>
                    <a:pt x="10510895" y="563100"/>
                  </a:lnTo>
                  <a:lnTo>
                    <a:pt x="10515600" y="539749"/>
                  </a:lnTo>
                  <a:lnTo>
                    <a:pt x="10515600" y="59943"/>
                  </a:lnTo>
                  <a:lnTo>
                    <a:pt x="10510895" y="36593"/>
                  </a:lnTo>
                  <a:lnTo>
                    <a:pt x="10498058" y="17541"/>
                  </a:lnTo>
                  <a:lnTo>
                    <a:pt x="10479006" y="4704"/>
                  </a:lnTo>
                  <a:lnTo>
                    <a:pt x="10455656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069594" y="4261662"/>
              <a:ext cx="231140" cy="231775"/>
            </a:xfrm>
            <a:custGeom>
              <a:avLst/>
              <a:gdLst/>
              <a:ahLst/>
              <a:cxnLst/>
              <a:rect l="l" t="t" r="r" b="b"/>
              <a:pathLst>
                <a:path w="231140" h="231775">
                  <a:moveTo>
                    <a:pt x="231038" y="210883"/>
                  </a:moveTo>
                  <a:lnTo>
                    <a:pt x="20383" y="210883"/>
                  </a:lnTo>
                  <a:lnTo>
                    <a:pt x="20383" y="0"/>
                  </a:lnTo>
                  <a:lnTo>
                    <a:pt x="0" y="0"/>
                  </a:lnTo>
                  <a:lnTo>
                    <a:pt x="0" y="210883"/>
                  </a:lnTo>
                  <a:lnTo>
                    <a:pt x="0" y="231203"/>
                  </a:lnTo>
                  <a:lnTo>
                    <a:pt x="231038" y="231203"/>
                  </a:lnTo>
                  <a:lnTo>
                    <a:pt x="231038" y="210883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069604" y="4261256"/>
              <a:ext cx="231140" cy="231775"/>
            </a:xfrm>
            <a:custGeom>
              <a:avLst/>
              <a:gdLst/>
              <a:ahLst/>
              <a:cxnLst/>
              <a:rect l="l" t="t" r="r" b="b"/>
              <a:pathLst>
                <a:path w="231140" h="231775">
                  <a:moveTo>
                    <a:pt x="20385" y="0"/>
                  </a:moveTo>
                  <a:lnTo>
                    <a:pt x="0" y="0"/>
                  </a:lnTo>
                  <a:lnTo>
                    <a:pt x="0" y="231158"/>
                  </a:lnTo>
                  <a:lnTo>
                    <a:pt x="231031" y="231158"/>
                  </a:lnTo>
                  <a:lnTo>
                    <a:pt x="231031" y="210762"/>
                  </a:lnTo>
                  <a:lnTo>
                    <a:pt x="20385" y="210761"/>
                  </a:lnTo>
                  <a:lnTo>
                    <a:pt x="20385" y="0"/>
                  </a:lnTo>
                  <a:close/>
                </a:path>
              </a:pathLst>
            </a:custGeom>
            <a:ln w="3964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110374" y="4332643"/>
              <a:ext cx="37465" cy="119380"/>
            </a:xfrm>
            <a:custGeom>
              <a:avLst/>
              <a:gdLst/>
              <a:ahLst/>
              <a:cxnLst/>
              <a:rect l="l" t="t" r="r" b="b"/>
              <a:pathLst>
                <a:path w="37465" h="119379">
                  <a:moveTo>
                    <a:pt x="37372" y="0"/>
                  </a:moveTo>
                  <a:lnTo>
                    <a:pt x="0" y="0"/>
                  </a:lnTo>
                  <a:lnTo>
                    <a:pt x="0" y="118978"/>
                  </a:lnTo>
                  <a:lnTo>
                    <a:pt x="37372" y="118978"/>
                  </a:lnTo>
                  <a:lnTo>
                    <a:pt x="3737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110374" y="4332643"/>
              <a:ext cx="37465" cy="119380"/>
            </a:xfrm>
            <a:custGeom>
              <a:avLst/>
              <a:gdLst/>
              <a:ahLst/>
              <a:cxnLst/>
              <a:rect l="l" t="t" r="r" b="b"/>
              <a:pathLst>
                <a:path w="37465" h="119379">
                  <a:moveTo>
                    <a:pt x="0" y="118978"/>
                  </a:moveTo>
                  <a:lnTo>
                    <a:pt x="37372" y="118978"/>
                  </a:lnTo>
                  <a:lnTo>
                    <a:pt x="37372" y="0"/>
                  </a:lnTo>
                  <a:lnTo>
                    <a:pt x="0" y="0"/>
                  </a:lnTo>
                  <a:lnTo>
                    <a:pt x="0" y="118978"/>
                  </a:lnTo>
                  <a:close/>
                </a:path>
              </a:pathLst>
            </a:custGeom>
            <a:ln w="3963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61336" y="4261256"/>
              <a:ext cx="37465" cy="190500"/>
            </a:xfrm>
            <a:custGeom>
              <a:avLst/>
              <a:gdLst/>
              <a:ahLst/>
              <a:cxnLst/>
              <a:rect l="l" t="t" r="r" b="b"/>
              <a:pathLst>
                <a:path w="37465" h="190500">
                  <a:moveTo>
                    <a:pt x="37372" y="0"/>
                  </a:moveTo>
                  <a:lnTo>
                    <a:pt x="0" y="0"/>
                  </a:lnTo>
                  <a:lnTo>
                    <a:pt x="0" y="190365"/>
                  </a:lnTo>
                  <a:lnTo>
                    <a:pt x="37372" y="190365"/>
                  </a:lnTo>
                  <a:lnTo>
                    <a:pt x="3737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61336" y="4261256"/>
              <a:ext cx="37465" cy="190500"/>
            </a:xfrm>
            <a:custGeom>
              <a:avLst/>
              <a:gdLst/>
              <a:ahLst/>
              <a:cxnLst/>
              <a:rect l="l" t="t" r="r" b="b"/>
              <a:pathLst>
                <a:path w="37465" h="190500">
                  <a:moveTo>
                    <a:pt x="0" y="190365"/>
                  </a:moveTo>
                  <a:lnTo>
                    <a:pt x="37372" y="190365"/>
                  </a:lnTo>
                  <a:lnTo>
                    <a:pt x="37372" y="0"/>
                  </a:lnTo>
                  <a:lnTo>
                    <a:pt x="0" y="0"/>
                  </a:lnTo>
                  <a:lnTo>
                    <a:pt x="0" y="190365"/>
                  </a:lnTo>
                  <a:close/>
                </a:path>
              </a:pathLst>
            </a:custGeom>
            <a:ln w="3963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212299" y="4332643"/>
              <a:ext cx="37465" cy="119380"/>
            </a:xfrm>
            <a:custGeom>
              <a:avLst/>
              <a:gdLst/>
              <a:ahLst/>
              <a:cxnLst/>
              <a:rect l="l" t="t" r="r" b="b"/>
              <a:pathLst>
                <a:path w="37465" h="119379">
                  <a:moveTo>
                    <a:pt x="37372" y="0"/>
                  </a:moveTo>
                  <a:lnTo>
                    <a:pt x="0" y="0"/>
                  </a:lnTo>
                  <a:lnTo>
                    <a:pt x="0" y="118978"/>
                  </a:lnTo>
                  <a:lnTo>
                    <a:pt x="37372" y="118978"/>
                  </a:lnTo>
                  <a:lnTo>
                    <a:pt x="3737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212299" y="4332643"/>
              <a:ext cx="37465" cy="119380"/>
            </a:xfrm>
            <a:custGeom>
              <a:avLst/>
              <a:gdLst/>
              <a:ahLst/>
              <a:cxnLst/>
              <a:rect l="l" t="t" r="r" b="b"/>
              <a:pathLst>
                <a:path w="37465" h="119379">
                  <a:moveTo>
                    <a:pt x="0" y="118978"/>
                  </a:moveTo>
                  <a:lnTo>
                    <a:pt x="37372" y="118978"/>
                  </a:lnTo>
                  <a:lnTo>
                    <a:pt x="37372" y="0"/>
                  </a:lnTo>
                  <a:lnTo>
                    <a:pt x="0" y="0"/>
                  </a:lnTo>
                  <a:lnTo>
                    <a:pt x="0" y="118978"/>
                  </a:lnTo>
                  <a:close/>
                </a:path>
              </a:pathLst>
            </a:custGeom>
            <a:ln w="3963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263262" y="4390432"/>
              <a:ext cx="37465" cy="61594"/>
            </a:xfrm>
            <a:custGeom>
              <a:avLst/>
              <a:gdLst/>
              <a:ahLst/>
              <a:cxnLst/>
              <a:rect l="l" t="t" r="r" b="b"/>
              <a:pathLst>
                <a:path w="37465" h="61595">
                  <a:moveTo>
                    <a:pt x="37372" y="0"/>
                  </a:moveTo>
                  <a:lnTo>
                    <a:pt x="0" y="0"/>
                  </a:lnTo>
                  <a:lnTo>
                    <a:pt x="0" y="61188"/>
                  </a:lnTo>
                  <a:lnTo>
                    <a:pt x="37372" y="61188"/>
                  </a:lnTo>
                  <a:lnTo>
                    <a:pt x="3737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263262" y="4390432"/>
              <a:ext cx="37465" cy="61594"/>
            </a:xfrm>
            <a:custGeom>
              <a:avLst/>
              <a:gdLst/>
              <a:ahLst/>
              <a:cxnLst/>
              <a:rect l="l" t="t" r="r" b="b"/>
              <a:pathLst>
                <a:path w="37465" h="61595">
                  <a:moveTo>
                    <a:pt x="0" y="61188"/>
                  </a:moveTo>
                  <a:lnTo>
                    <a:pt x="37372" y="61188"/>
                  </a:lnTo>
                  <a:lnTo>
                    <a:pt x="37372" y="0"/>
                  </a:lnTo>
                  <a:lnTo>
                    <a:pt x="0" y="0"/>
                  </a:lnTo>
                  <a:lnTo>
                    <a:pt x="0" y="61188"/>
                  </a:lnTo>
                  <a:close/>
                </a:path>
              </a:pathLst>
            </a:custGeom>
            <a:ln w="3964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38200" y="4826000"/>
              <a:ext cx="10515600" cy="600075"/>
            </a:xfrm>
            <a:custGeom>
              <a:avLst/>
              <a:gdLst/>
              <a:ahLst/>
              <a:cxnLst/>
              <a:rect l="l" t="t" r="r" b="b"/>
              <a:pathLst>
                <a:path w="10515600" h="600075">
                  <a:moveTo>
                    <a:pt x="10455656" y="0"/>
                  </a:moveTo>
                  <a:lnTo>
                    <a:pt x="59982" y="0"/>
                  </a:lnTo>
                  <a:lnTo>
                    <a:pt x="36636" y="4722"/>
                  </a:lnTo>
                  <a:lnTo>
                    <a:pt x="17570" y="17589"/>
                  </a:lnTo>
                  <a:lnTo>
                    <a:pt x="4714" y="36647"/>
                  </a:lnTo>
                  <a:lnTo>
                    <a:pt x="0" y="59943"/>
                  </a:lnTo>
                  <a:lnTo>
                    <a:pt x="0" y="539877"/>
                  </a:lnTo>
                  <a:lnTo>
                    <a:pt x="4714" y="563173"/>
                  </a:lnTo>
                  <a:lnTo>
                    <a:pt x="17570" y="582231"/>
                  </a:lnTo>
                  <a:lnTo>
                    <a:pt x="36636" y="595098"/>
                  </a:lnTo>
                  <a:lnTo>
                    <a:pt x="59982" y="599821"/>
                  </a:lnTo>
                  <a:lnTo>
                    <a:pt x="10455656" y="599821"/>
                  </a:lnTo>
                  <a:lnTo>
                    <a:pt x="10479006" y="595098"/>
                  </a:lnTo>
                  <a:lnTo>
                    <a:pt x="10498058" y="582231"/>
                  </a:lnTo>
                  <a:lnTo>
                    <a:pt x="10510895" y="563173"/>
                  </a:lnTo>
                  <a:lnTo>
                    <a:pt x="10515600" y="539877"/>
                  </a:lnTo>
                  <a:lnTo>
                    <a:pt x="10515600" y="59943"/>
                  </a:lnTo>
                  <a:lnTo>
                    <a:pt x="10510895" y="36647"/>
                  </a:lnTo>
                  <a:lnTo>
                    <a:pt x="10498058" y="17589"/>
                  </a:lnTo>
                  <a:lnTo>
                    <a:pt x="10479006" y="4722"/>
                  </a:lnTo>
                  <a:lnTo>
                    <a:pt x="10455656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7236" y="4988558"/>
              <a:ext cx="278145" cy="275916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838200" y="5575807"/>
              <a:ext cx="10515600" cy="600075"/>
            </a:xfrm>
            <a:custGeom>
              <a:avLst/>
              <a:gdLst/>
              <a:ahLst/>
              <a:cxnLst/>
              <a:rect l="l" t="t" r="r" b="b"/>
              <a:pathLst>
                <a:path w="10515600" h="600075">
                  <a:moveTo>
                    <a:pt x="10455656" y="0"/>
                  </a:moveTo>
                  <a:lnTo>
                    <a:pt x="59982" y="0"/>
                  </a:lnTo>
                  <a:lnTo>
                    <a:pt x="36636" y="4706"/>
                  </a:lnTo>
                  <a:lnTo>
                    <a:pt x="17570" y="17545"/>
                  </a:lnTo>
                  <a:lnTo>
                    <a:pt x="4714" y="36593"/>
                  </a:lnTo>
                  <a:lnTo>
                    <a:pt x="0" y="59931"/>
                  </a:lnTo>
                  <a:lnTo>
                    <a:pt x="0" y="539762"/>
                  </a:lnTo>
                  <a:lnTo>
                    <a:pt x="4714" y="563113"/>
                  </a:lnTo>
                  <a:lnTo>
                    <a:pt x="17570" y="582179"/>
                  </a:lnTo>
                  <a:lnTo>
                    <a:pt x="36636" y="595032"/>
                  </a:lnTo>
                  <a:lnTo>
                    <a:pt x="59982" y="599744"/>
                  </a:lnTo>
                  <a:lnTo>
                    <a:pt x="10455656" y="599744"/>
                  </a:lnTo>
                  <a:lnTo>
                    <a:pt x="10479006" y="595032"/>
                  </a:lnTo>
                  <a:lnTo>
                    <a:pt x="10498058" y="582179"/>
                  </a:lnTo>
                  <a:lnTo>
                    <a:pt x="10510895" y="563113"/>
                  </a:lnTo>
                  <a:lnTo>
                    <a:pt x="10515600" y="539762"/>
                  </a:lnTo>
                  <a:lnTo>
                    <a:pt x="10515600" y="59931"/>
                  </a:lnTo>
                  <a:lnTo>
                    <a:pt x="10510895" y="36593"/>
                  </a:lnTo>
                  <a:lnTo>
                    <a:pt x="10498058" y="17545"/>
                  </a:lnTo>
                  <a:lnTo>
                    <a:pt x="10479006" y="4706"/>
                  </a:lnTo>
                  <a:lnTo>
                    <a:pt x="10455656" y="0"/>
                  </a:lnTo>
                  <a:close/>
                </a:path>
              </a:pathLst>
            </a:custGeom>
            <a:solidFill>
              <a:srgbClr val="CCD2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40385" y="5741343"/>
              <a:ext cx="289560" cy="270510"/>
            </a:xfrm>
            <a:custGeom>
              <a:avLst/>
              <a:gdLst/>
              <a:ahLst/>
              <a:cxnLst/>
              <a:rect l="l" t="t" r="r" b="b"/>
              <a:pathLst>
                <a:path w="289559" h="270510">
                  <a:moveTo>
                    <a:pt x="169875" y="0"/>
                  </a:moveTo>
                  <a:lnTo>
                    <a:pt x="24462" y="50990"/>
                  </a:lnTo>
                  <a:lnTo>
                    <a:pt x="10192" y="96882"/>
                  </a:lnTo>
                  <a:lnTo>
                    <a:pt x="10872" y="101981"/>
                  </a:lnTo>
                  <a:lnTo>
                    <a:pt x="11891" y="106740"/>
                  </a:lnTo>
                  <a:lnTo>
                    <a:pt x="5159" y="114001"/>
                  </a:lnTo>
                  <a:lnTo>
                    <a:pt x="1613" y="123780"/>
                  </a:lnTo>
                  <a:lnTo>
                    <a:pt x="233" y="134897"/>
                  </a:lnTo>
                  <a:lnTo>
                    <a:pt x="140" y="139374"/>
                  </a:lnTo>
                  <a:lnTo>
                    <a:pt x="105" y="141074"/>
                  </a:lnTo>
                  <a:lnTo>
                    <a:pt x="0" y="146173"/>
                  </a:lnTo>
                  <a:lnTo>
                    <a:pt x="541" y="154857"/>
                  </a:lnTo>
                  <a:lnTo>
                    <a:pt x="2293" y="162873"/>
                  </a:lnTo>
                  <a:lnTo>
                    <a:pt x="5446" y="169932"/>
                  </a:lnTo>
                  <a:lnTo>
                    <a:pt x="10192" y="175748"/>
                  </a:lnTo>
                  <a:lnTo>
                    <a:pt x="8493" y="181527"/>
                  </a:lnTo>
                  <a:lnTo>
                    <a:pt x="9513" y="188665"/>
                  </a:lnTo>
                  <a:lnTo>
                    <a:pt x="9513" y="197164"/>
                  </a:lnTo>
                  <a:lnTo>
                    <a:pt x="10362" y="208260"/>
                  </a:lnTo>
                  <a:lnTo>
                    <a:pt x="13250" y="218113"/>
                  </a:lnTo>
                  <a:lnTo>
                    <a:pt x="18686" y="225990"/>
                  </a:lnTo>
                  <a:lnTo>
                    <a:pt x="27180" y="231158"/>
                  </a:lnTo>
                  <a:lnTo>
                    <a:pt x="121631" y="270251"/>
                  </a:lnTo>
                  <a:lnTo>
                    <a:pt x="174892" y="248155"/>
                  </a:lnTo>
                  <a:lnTo>
                    <a:pt x="122310" y="248155"/>
                  </a:lnTo>
                  <a:lnTo>
                    <a:pt x="27519" y="210761"/>
                  </a:lnTo>
                  <a:lnTo>
                    <a:pt x="27519" y="184246"/>
                  </a:lnTo>
                  <a:lnTo>
                    <a:pt x="80169" y="184246"/>
                  </a:lnTo>
                  <a:lnTo>
                    <a:pt x="18346" y="159771"/>
                  </a:lnTo>
                  <a:lnTo>
                    <a:pt x="18346" y="129176"/>
                  </a:lnTo>
                  <a:lnTo>
                    <a:pt x="88644" y="129176"/>
                  </a:lnTo>
                  <a:lnTo>
                    <a:pt x="28539" y="105380"/>
                  </a:lnTo>
                  <a:lnTo>
                    <a:pt x="28539" y="74786"/>
                  </a:lnTo>
                  <a:lnTo>
                    <a:pt x="214767" y="74786"/>
                  </a:lnTo>
                  <a:lnTo>
                    <a:pt x="258551" y="57109"/>
                  </a:lnTo>
                  <a:lnTo>
                    <a:pt x="271801" y="57109"/>
                  </a:lnTo>
                  <a:lnTo>
                    <a:pt x="271801" y="51670"/>
                  </a:lnTo>
                  <a:lnTo>
                    <a:pt x="289468" y="44192"/>
                  </a:lnTo>
                  <a:lnTo>
                    <a:pt x="169875" y="0"/>
                  </a:lnTo>
                  <a:close/>
                </a:path>
                <a:path w="289559" h="270510">
                  <a:moveTo>
                    <a:pt x="271121" y="161130"/>
                  </a:moveTo>
                  <a:lnTo>
                    <a:pt x="258211" y="161130"/>
                  </a:lnTo>
                  <a:lnTo>
                    <a:pt x="258136" y="167929"/>
                  </a:lnTo>
                  <a:lnTo>
                    <a:pt x="258050" y="175748"/>
                  </a:lnTo>
                  <a:lnTo>
                    <a:pt x="257987" y="181527"/>
                  </a:lnTo>
                  <a:lnTo>
                    <a:pt x="257871" y="192065"/>
                  </a:lnTo>
                  <a:lnTo>
                    <a:pt x="122310" y="248155"/>
                  </a:lnTo>
                  <a:lnTo>
                    <a:pt x="174892" y="248155"/>
                  </a:lnTo>
                  <a:lnTo>
                    <a:pt x="288788" y="200903"/>
                  </a:lnTo>
                  <a:lnTo>
                    <a:pt x="271121" y="194444"/>
                  </a:lnTo>
                  <a:lnTo>
                    <a:pt x="271121" y="161130"/>
                  </a:lnTo>
                  <a:close/>
                </a:path>
                <a:path w="289559" h="270510">
                  <a:moveTo>
                    <a:pt x="80169" y="184246"/>
                  </a:moveTo>
                  <a:lnTo>
                    <a:pt x="27519" y="184246"/>
                  </a:lnTo>
                  <a:lnTo>
                    <a:pt x="112118" y="218920"/>
                  </a:lnTo>
                  <a:lnTo>
                    <a:pt x="167117" y="197164"/>
                  </a:lnTo>
                  <a:lnTo>
                    <a:pt x="112797" y="197164"/>
                  </a:lnTo>
                  <a:lnTo>
                    <a:pt x="80169" y="184246"/>
                  </a:lnTo>
                  <a:close/>
                </a:path>
                <a:path w="289559" h="270510">
                  <a:moveTo>
                    <a:pt x="261608" y="112179"/>
                  </a:moveTo>
                  <a:lnTo>
                    <a:pt x="248698" y="112179"/>
                  </a:lnTo>
                  <a:lnTo>
                    <a:pt x="248698" y="141074"/>
                  </a:lnTo>
                  <a:lnTo>
                    <a:pt x="248358" y="141074"/>
                  </a:lnTo>
                  <a:lnTo>
                    <a:pt x="112797" y="197164"/>
                  </a:lnTo>
                  <a:lnTo>
                    <a:pt x="167117" y="197164"/>
                  </a:lnTo>
                  <a:lnTo>
                    <a:pt x="258211" y="161130"/>
                  </a:lnTo>
                  <a:lnTo>
                    <a:pt x="271121" y="161130"/>
                  </a:lnTo>
                  <a:lnTo>
                    <a:pt x="271121" y="157051"/>
                  </a:lnTo>
                  <a:lnTo>
                    <a:pt x="288788" y="149573"/>
                  </a:lnTo>
                  <a:lnTo>
                    <a:pt x="261608" y="139374"/>
                  </a:lnTo>
                  <a:lnTo>
                    <a:pt x="261608" y="112179"/>
                  </a:lnTo>
                  <a:close/>
                </a:path>
                <a:path w="289559" h="270510">
                  <a:moveTo>
                    <a:pt x="88644" y="129176"/>
                  </a:moveTo>
                  <a:lnTo>
                    <a:pt x="18346" y="129176"/>
                  </a:lnTo>
                  <a:lnTo>
                    <a:pt x="115515" y="167929"/>
                  </a:lnTo>
                  <a:lnTo>
                    <a:pt x="175610" y="142774"/>
                  </a:lnTo>
                  <a:lnTo>
                    <a:pt x="122990" y="142774"/>
                  </a:lnTo>
                  <a:lnTo>
                    <a:pt x="88644" y="129176"/>
                  </a:lnTo>
                  <a:close/>
                </a:path>
                <a:path w="289559" h="270510">
                  <a:moveTo>
                    <a:pt x="271801" y="57109"/>
                  </a:moveTo>
                  <a:lnTo>
                    <a:pt x="258551" y="57109"/>
                  </a:lnTo>
                  <a:lnTo>
                    <a:pt x="258551" y="86344"/>
                  </a:lnTo>
                  <a:lnTo>
                    <a:pt x="122990" y="142774"/>
                  </a:lnTo>
                  <a:lnTo>
                    <a:pt x="175610" y="142774"/>
                  </a:lnTo>
                  <a:lnTo>
                    <a:pt x="248698" y="112179"/>
                  </a:lnTo>
                  <a:lnTo>
                    <a:pt x="261608" y="112179"/>
                  </a:lnTo>
                  <a:lnTo>
                    <a:pt x="261608" y="106740"/>
                  </a:lnTo>
                  <a:lnTo>
                    <a:pt x="289468" y="95182"/>
                  </a:lnTo>
                  <a:lnTo>
                    <a:pt x="271801" y="88724"/>
                  </a:lnTo>
                  <a:lnTo>
                    <a:pt x="271801" y="57109"/>
                  </a:lnTo>
                  <a:close/>
                </a:path>
                <a:path w="289559" h="270510">
                  <a:moveTo>
                    <a:pt x="214767" y="74786"/>
                  </a:moveTo>
                  <a:lnTo>
                    <a:pt x="28539" y="74786"/>
                  </a:lnTo>
                  <a:lnTo>
                    <a:pt x="122990" y="111839"/>
                  </a:lnTo>
                  <a:lnTo>
                    <a:pt x="214767" y="74786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40385" y="5741343"/>
              <a:ext cx="289560" cy="270510"/>
            </a:xfrm>
            <a:custGeom>
              <a:avLst/>
              <a:gdLst/>
              <a:ahLst/>
              <a:cxnLst/>
              <a:rect l="l" t="t" r="r" b="b"/>
              <a:pathLst>
                <a:path w="289559" h="270510">
                  <a:moveTo>
                    <a:pt x="289468" y="95182"/>
                  </a:moveTo>
                  <a:lnTo>
                    <a:pt x="271801" y="88724"/>
                  </a:lnTo>
                  <a:lnTo>
                    <a:pt x="271801" y="51670"/>
                  </a:lnTo>
                  <a:lnTo>
                    <a:pt x="289468" y="44192"/>
                  </a:lnTo>
                  <a:lnTo>
                    <a:pt x="169875" y="0"/>
                  </a:lnTo>
                  <a:lnTo>
                    <a:pt x="24462" y="50990"/>
                  </a:lnTo>
                  <a:lnTo>
                    <a:pt x="10192" y="91783"/>
                  </a:lnTo>
                  <a:lnTo>
                    <a:pt x="10192" y="96882"/>
                  </a:lnTo>
                  <a:lnTo>
                    <a:pt x="10872" y="101981"/>
                  </a:lnTo>
                  <a:lnTo>
                    <a:pt x="11891" y="106740"/>
                  </a:lnTo>
                  <a:lnTo>
                    <a:pt x="5159" y="114001"/>
                  </a:lnTo>
                  <a:lnTo>
                    <a:pt x="1613" y="123780"/>
                  </a:lnTo>
                  <a:lnTo>
                    <a:pt x="233" y="134897"/>
                  </a:lnTo>
                  <a:lnTo>
                    <a:pt x="0" y="146173"/>
                  </a:lnTo>
                  <a:lnTo>
                    <a:pt x="541" y="154857"/>
                  </a:lnTo>
                  <a:lnTo>
                    <a:pt x="2293" y="162873"/>
                  </a:lnTo>
                  <a:lnTo>
                    <a:pt x="5446" y="169932"/>
                  </a:lnTo>
                  <a:lnTo>
                    <a:pt x="10192" y="175748"/>
                  </a:lnTo>
                  <a:lnTo>
                    <a:pt x="8493" y="181527"/>
                  </a:lnTo>
                  <a:lnTo>
                    <a:pt x="9513" y="188665"/>
                  </a:lnTo>
                  <a:lnTo>
                    <a:pt x="9513" y="197164"/>
                  </a:lnTo>
                  <a:lnTo>
                    <a:pt x="10362" y="208260"/>
                  </a:lnTo>
                  <a:lnTo>
                    <a:pt x="13250" y="218113"/>
                  </a:lnTo>
                  <a:lnTo>
                    <a:pt x="18686" y="225990"/>
                  </a:lnTo>
                  <a:lnTo>
                    <a:pt x="27180" y="231158"/>
                  </a:lnTo>
                  <a:lnTo>
                    <a:pt x="121631" y="270251"/>
                  </a:lnTo>
                  <a:lnTo>
                    <a:pt x="288788" y="200903"/>
                  </a:lnTo>
                  <a:lnTo>
                    <a:pt x="271121" y="194444"/>
                  </a:lnTo>
                  <a:lnTo>
                    <a:pt x="271121" y="157051"/>
                  </a:lnTo>
                  <a:lnTo>
                    <a:pt x="288788" y="149573"/>
                  </a:lnTo>
                  <a:lnTo>
                    <a:pt x="261608" y="139374"/>
                  </a:lnTo>
                  <a:lnTo>
                    <a:pt x="261608" y="106740"/>
                  </a:lnTo>
                  <a:lnTo>
                    <a:pt x="289468" y="95182"/>
                  </a:lnTo>
                  <a:close/>
                </a:path>
              </a:pathLst>
            </a:custGeom>
            <a:ln w="3964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56749" y="5796470"/>
              <a:ext cx="244170" cy="195011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1582038" y="1868804"/>
            <a:ext cx="9596755" cy="4135120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>
              <a:lnSpc>
                <a:spcPts val="1839"/>
              </a:lnSpc>
              <a:spcBef>
                <a:spcPts val="220"/>
              </a:spcBef>
            </a:pPr>
            <a:r>
              <a:rPr dirty="0" sz="1600">
                <a:latin typeface="Times New Roman"/>
                <a:cs typeface="Times New Roman"/>
              </a:rPr>
              <a:t>Introduction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(try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answer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what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why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is,</a:t>
            </a:r>
            <a:r>
              <a:rPr dirty="0" sz="1600" spc="3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what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3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(are)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existing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problems, why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problem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so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important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discuss;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may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cite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footer)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Times New Roman"/>
                <a:cs typeface="Times New Roman"/>
              </a:rPr>
              <a:t>Motivation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&amp;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Contributions</a:t>
            </a:r>
            <a:endParaRPr sz="1600">
              <a:latin typeface="Times New Roman"/>
              <a:cs typeface="Times New Roman"/>
            </a:endParaRPr>
          </a:p>
          <a:p>
            <a:pPr marL="12700" marR="7589520">
              <a:lnSpc>
                <a:spcPct val="307500"/>
              </a:lnSpc>
            </a:pPr>
            <a:r>
              <a:rPr dirty="0" sz="1600">
                <a:latin typeface="Times New Roman"/>
                <a:cs typeface="Times New Roman"/>
              </a:rPr>
              <a:t>Proposed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Model </a:t>
            </a:r>
            <a:r>
              <a:rPr dirty="0" sz="1600">
                <a:latin typeface="Times New Roman"/>
                <a:cs typeface="Times New Roman"/>
              </a:rPr>
              <a:t>Results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and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Discussion Conclusion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 spc="-10">
                <a:latin typeface="Times New Roman"/>
                <a:cs typeface="Times New Roman"/>
              </a:rPr>
              <a:t>Reference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15339" y="2318222"/>
            <a:ext cx="9090025" cy="270827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Diabetic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Retinopathy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(DR)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severe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diabetic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complication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causing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preventable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blindness.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Early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 vital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 avoid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delay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vision</a:t>
            </a:r>
            <a:r>
              <a:rPr dirty="0" sz="1800" spc="-10">
                <a:latin typeface="Times New Roman"/>
                <a:cs typeface="Times New Roman"/>
              </a:rPr>
              <a:t> loss.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01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Manual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diagnosis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-10">
                <a:latin typeface="Times New Roman"/>
                <a:cs typeface="Times New Roman"/>
              </a:rPr>
              <a:t> ophthalmologists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slow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subjective.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Growing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diabetes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cases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highlight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need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automated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screening.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Deep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especially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CNNs,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improves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retinal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analysis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accuracy.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However,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CNNs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generate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many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redundant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noisy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features,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increasing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computational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cost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lowering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robustness.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2"/>
            <a:ext cx="12192000" cy="4567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4376" y="19554"/>
            <a:ext cx="1343061" cy="7407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">
              <a:lnSpc>
                <a:spcPct val="100000"/>
              </a:lnSpc>
              <a:spcBef>
                <a:spcPts val="95"/>
              </a:spcBef>
            </a:pPr>
            <a:r>
              <a:rPr dirty="0"/>
              <a:t>Motivation</a:t>
            </a:r>
            <a:r>
              <a:rPr dirty="0" spc="-130"/>
              <a:t> </a:t>
            </a:r>
            <a:r>
              <a:rPr dirty="0"/>
              <a:t>&amp;</a:t>
            </a:r>
            <a:r>
              <a:rPr dirty="0" spc="-114"/>
              <a:t> </a:t>
            </a:r>
            <a:r>
              <a:rPr dirty="0"/>
              <a:t>Core</a:t>
            </a:r>
            <a:r>
              <a:rPr dirty="0" spc="-125"/>
              <a:t> </a:t>
            </a:r>
            <a:r>
              <a:rPr dirty="0" spc="-10"/>
              <a:t>Contribution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15339" y="2296923"/>
            <a:ext cx="9449435" cy="3803650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Manual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diagnosis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time-</a:t>
            </a:r>
            <a:r>
              <a:rPr dirty="0" sz="1800">
                <a:latin typeface="Times New Roman"/>
                <a:cs typeface="Times New Roman"/>
              </a:rPr>
              <a:t>consuming,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subjective,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limited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human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variability.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21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Increasing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diabetes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cases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demand automated,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accurate,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scalable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screening</a:t>
            </a:r>
            <a:r>
              <a:rPr dirty="0" sz="1800" spc="-10">
                <a:latin typeface="Times New Roman"/>
                <a:cs typeface="Times New Roman"/>
              </a:rPr>
              <a:t> methods.</a:t>
            </a:r>
            <a:endParaRPr sz="1800">
              <a:latin typeface="Times New Roman"/>
              <a:cs typeface="Times New Roman"/>
            </a:endParaRPr>
          </a:p>
          <a:p>
            <a:pPr marL="241300" marR="833119" indent="-229235">
              <a:lnSpc>
                <a:spcPct val="11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CNNs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show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strong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performance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but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generate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redundant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noisy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features,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model robustness.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2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proposed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work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integrates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Deep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(GoogLeNet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+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ResNet-</a:t>
            </a:r>
            <a:r>
              <a:rPr dirty="0" sz="1800">
                <a:latin typeface="Times New Roman"/>
                <a:cs typeface="Times New Roman"/>
              </a:rPr>
              <a:t>16)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Adaptive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Particle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215"/>
              </a:spcBef>
            </a:pPr>
            <a:r>
              <a:rPr dirty="0" sz="1800">
                <a:latin typeface="Times New Roman"/>
                <a:cs typeface="Times New Roman"/>
              </a:rPr>
              <a:t>Swarm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Optimization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(APSO)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optimization.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11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APSO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selects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most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relevant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CNN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features,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dimensionality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improving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classification accuracy.</a:t>
            </a:r>
            <a:endParaRPr sz="1800">
              <a:latin typeface="Times New Roman"/>
              <a:cs typeface="Times New Roman"/>
            </a:endParaRPr>
          </a:p>
          <a:p>
            <a:pPr marL="241300" marR="83820" indent="-229235">
              <a:lnSpc>
                <a:spcPct val="11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unified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ensures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high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diagnostic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performance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explainability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LIME,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supporting </a:t>
            </a:r>
            <a:r>
              <a:rPr dirty="0" sz="1800" spc="-20">
                <a:latin typeface="Times New Roman"/>
                <a:cs typeface="Times New Roman"/>
              </a:rPr>
              <a:t>large-</a:t>
            </a:r>
            <a:r>
              <a:rPr dirty="0" sz="1800">
                <a:latin typeface="Times New Roman"/>
                <a:cs typeface="Times New Roman"/>
              </a:rPr>
              <a:t>scale,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trustworthy DR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detection.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2"/>
            <a:ext cx="12192000" cy="4567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4376" y="19554"/>
            <a:ext cx="1343061" cy="7407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7135" y="406654"/>
            <a:ext cx="397891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Literature</a:t>
            </a:r>
            <a:r>
              <a:rPr dirty="0" spc="-250"/>
              <a:t> </a:t>
            </a:r>
            <a:r>
              <a:rPr dirty="0" spc="-10"/>
              <a:t>Review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07135" y="1095883"/>
            <a:ext cx="9578340" cy="4711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69595" indent="-229235">
              <a:lnSpc>
                <a:spcPct val="11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Early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methods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handcrafted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traditional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classifiers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like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SVM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Decision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Trees.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21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These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classical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struggled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capture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subtle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lesion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variations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handle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diverse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retinal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images.</a:t>
            </a:r>
            <a:endParaRPr sz="1800">
              <a:latin typeface="Times New Roman"/>
              <a:cs typeface="Times New Roman"/>
            </a:endParaRPr>
          </a:p>
          <a:p>
            <a:pPr marL="241300" marR="511809" indent="-229235">
              <a:lnSpc>
                <a:spcPct val="11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Deep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(CNNs)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revolutionized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like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VGGNet,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GoogLeNet,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ResNet,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enabling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automatic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learning.</a:t>
            </a:r>
            <a:endParaRPr sz="1800">
              <a:latin typeface="Times New Roman"/>
              <a:cs typeface="Times New Roman"/>
            </a:endParaRPr>
          </a:p>
          <a:p>
            <a:pPr marL="241300" marR="490220" indent="-229235">
              <a:lnSpc>
                <a:spcPct val="11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Later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research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explored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hybrid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combining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CNN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features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traditional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classifiers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(e.g., </a:t>
            </a:r>
            <a:r>
              <a:rPr dirty="0" sz="1800">
                <a:latin typeface="Times New Roman"/>
                <a:cs typeface="Times New Roman"/>
              </a:rPr>
              <a:t>SVM,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Random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Forest)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better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interpretability.</a:t>
            </a:r>
            <a:endParaRPr sz="180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11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Swarm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intelligence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evolutionary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optimization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methods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(like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PSO)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improved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selection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reduced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redundancy.</a:t>
            </a:r>
            <a:endParaRPr sz="1800">
              <a:latin typeface="Times New Roman"/>
              <a:cs typeface="Times New Roman"/>
            </a:endParaRPr>
          </a:p>
          <a:p>
            <a:pPr marL="241300" marR="99695" indent="-229235">
              <a:lnSpc>
                <a:spcPct val="11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spc="-10">
                <a:latin typeface="Times New Roman"/>
                <a:cs typeface="Times New Roman"/>
              </a:rPr>
              <a:t>Explainable</a:t>
            </a:r>
            <a:r>
              <a:rPr dirty="0" sz="1800" spc="-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(XAI)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tools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such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LIME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Grad-</a:t>
            </a:r>
            <a:r>
              <a:rPr dirty="0" sz="1800">
                <a:latin typeface="Times New Roman"/>
                <a:cs typeface="Times New Roman"/>
              </a:rPr>
              <a:t>CAM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enhanced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transparency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clinical trust.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2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However,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unified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pipeline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combining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robust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preprocessing,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dual-CNN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extraction,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adaptive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219"/>
              </a:spcBef>
            </a:pPr>
            <a:r>
              <a:rPr dirty="0" sz="1800">
                <a:latin typeface="Times New Roman"/>
                <a:cs typeface="Times New Roman"/>
              </a:rPr>
              <a:t>optimization,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explainable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outputs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still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missing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—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work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fills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gap.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2"/>
            <a:ext cx="12192000" cy="4567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4376" y="19554"/>
            <a:ext cx="1343061" cy="7407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5339" y="498475"/>
            <a:ext cx="47155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Proposed</a:t>
            </a:r>
            <a:r>
              <a:rPr dirty="0" sz="3600" spc="-105"/>
              <a:t> </a:t>
            </a:r>
            <a:r>
              <a:rPr dirty="0" sz="3600"/>
              <a:t>System</a:t>
            </a:r>
            <a:r>
              <a:rPr dirty="0" sz="3600" spc="-110"/>
              <a:t> </a:t>
            </a:r>
            <a:r>
              <a:rPr dirty="0" sz="3600" spc="-10"/>
              <a:t>Model</a:t>
            </a:r>
            <a:endParaRPr sz="3600"/>
          </a:p>
        </p:txBody>
      </p:sp>
      <p:sp>
        <p:nvSpPr>
          <p:cNvPr id="3" name="object 3" descr=""/>
          <p:cNvSpPr txBox="1"/>
          <p:nvPr/>
        </p:nvSpPr>
        <p:spPr>
          <a:xfrm>
            <a:off x="1077569" y="1067561"/>
            <a:ext cx="9489440" cy="4883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92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uses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EyePACS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retinal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fundus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dataset,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split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as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60%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training,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20%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validation,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20% </a:t>
            </a:r>
            <a:r>
              <a:rPr dirty="0" sz="1800">
                <a:latin typeface="Times New Roman"/>
                <a:cs typeface="Times New Roman"/>
              </a:rPr>
              <a:t>testing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fair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evaluation.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Preprocessing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pipeline:</a:t>
            </a:r>
            <a:endParaRPr sz="1800">
              <a:latin typeface="Times New Roman"/>
              <a:cs typeface="Times New Roman"/>
            </a:endParaRPr>
          </a:p>
          <a:p>
            <a:pPr marL="12700" marR="342265" indent="914400">
              <a:lnSpc>
                <a:spcPct val="100000"/>
              </a:lnSpc>
              <a:spcBef>
                <a:spcPts val="1010"/>
              </a:spcBef>
            </a:pPr>
            <a:r>
              <a:rPr dirty="0" sz="1800">
                <a:latin typeface="Times New Roman"/>
                <a:cs typeface="Times New Roman"/>
              </a:rPr>
              <a:t>Enhances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quality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CLAHE,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median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filtering,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GrabCut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segmentation,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resizing,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normalization.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Hybrid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extraction:</a:t>
            </a:r>
            <a:endParaRPr sz="1800">
              <a:latin typeface="Times New Roman"/>
              <a:cs typeface="Times New Roman"/>
            </a:endParaRPr>
          </a:p>
          <a:p>
            <a:pPr marL="12700" marR="120014" indent="914400">
              <a:lnSpc>
                <a:spcPct val="100000"/>
              </a:lnSpc>
              <a:spcBef>
                <a:spcPts val="1000"/>
              </a:spcBef>
            </a:pPr>
            <a:r>
              <a:rPr dirty="0" sz="1800">
                <a:latin typeface="Times New Roman"/>
                <a:cs typeface="Times New Roman"/>
              </a:rPr>
              <a:t>Combines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GoogLeNet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(multi-</a:t>
            </a:r>
            <a:r>
              <a:rPr dirty="0" sz="1800">
                <a:latin typeface="Times New Roman"/>
                <a:cs typeface="Times New Roman"/>
              </a:rPr>
              <a:t>scale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features)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ResNet-</a:t>
            </a:r>
            <a:r>
              <a:rPr dirty="0" sz="1800">
                <a:latin typeface="Times New Roman"/>
                <a:cs typeface="Times New Roman"/>
              </a:rPr>
              <a:t>16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(deep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residual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features)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rich </a:t>
            </a:r>
            <a:r>
              <a:rPr dirty="0" sz="1800">
                <a:latin typeface="Times New Roman"/>
                <a:cs typeface="Times New Roman"/>
              </a:rPr>
              <a:t>feature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representation.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Feature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selection: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000"/>
              </a:spcBef>
            </a:pPr>
            <a:r>
              <a:rPr dirty="0" sz="1800" spc="-10">
                <a:latin typeface="Times New Roman"/>
                <a:cs typeface="Times New Roman"/>
              </a:rPr>
              <a:t>Uses</a:t>
            </a:r>
            <a:r>
              <a:rPr dirty="0" sz="1800" spc="-10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Adaptive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Particle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Swarm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Optimization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(APSO)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reduce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redundant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select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the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Times New Roman"/>
                <a:cs typeface="Times New Roman"/>
              </a:rPr>
              <a:t>most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significant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features.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>
                <a:latin typeface="Times New Roman"/>
                <a:cs typeface="Times New Roman"/>
              </a:rPr>
              <a:t>Classification:</a:t>
            </a:r>
            <a:endParaRPr sz="1800">
              <a:latin typeface="Times New Roman"/>
              <a:cs typeface="Times New Roman"/>
            </a:endParaRPr>
          </a:p>
          <a:p>
            <a:pPr marL="12700" marR="135890" indent="914400">
              <a:lnSpc>
                <a:spcPct val="100000"/>
              </a:lnSpc>
              <a:spcBef>
                <a:spcPts val="1010"/>
              </a:spcBef>
            </a:pPr>
            <a:r>
              <a:rPr dirty="0" sz="1800" spc="-10">
                <a:latin typeface="Times New Roman"/>
                <a:cs typeface="Times New Roman"/>
              </a:rPr>
              <a:t>Trained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multiple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machine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models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—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SVM,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Random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Forest,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Naive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Bayes,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and </a:t>
            </a:r>
            <a:r>
              <a:rPr dirty="0" sz="1800">
                <a:latin typeface="Times New Roman"/>
                <a:cs typeface="Times New Roman"/>
              </a:rPr>
              <a:t>Decision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Tree.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2"/>
            <a:ext cx="12192000" cy="4567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4376" y="19554"/>
            <a:ext cx="1343061" cy="7407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9619" y="593852"/>
            <a:ext cx="37668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Simulation</a:t>
            </a:r>
            <a:r>
              <a:rPr dirty="0" spc="-170"/>
              <a:t> </a:t>
            </a:r>
            <a:r>
              <a:rPr dirty="0" spc="-10"/>
              <a:t>Setup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7310" y="1240916"/>
            <a:ext cx="8929370" cy="4735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Environment: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Implemented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Python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3.10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Google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Colab.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4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Libraries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Used:</a:t>
            </a:r>
            <a:endParaRPr sz="18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1440"/>
              </a:spcBef>
            </a:pPr>
            <a:r>
              <a:rPr dirty="0" sz="1800" spc="-10">
                <a:latin typeface="Times New Roman"/>
                <a:cs typeface="Times New Roman"/>
              </a:rPr>
              <a:t>TensorFlow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deep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framework</a:t>
            </a:r>
            <a:endParaRPr sz="18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1435"/>
              </a:spcBef>
            </a:pPr>
            <a:r>
              <a:rPr dirty="0" sz="1800">
                <a:latin typeface="Times New Roman"/>
                <a:cs typeface="Times New Roman"/>
              </a:rPr>
              <a:t>NumPy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numerical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computation</a:t>
            </a:r>
            <a:endParaRPr sz="1800">
              <a:latin typeface="Times New Roman"/>
              <a:cs typeface="Times New Roman"/>
            </a:endParaRPr>
          </a:p>
          <a:p>
            <a:pPr marL="926465" marR="3870960">
              <a:lnSpc>
                <a:spcPts val="3600"/>
              </a:lnSpc>
              <a:spcBef>
                <a:spcPts val="345"/>
              </a:spcBef>
            </a:pPr>
            <a:r>
              <a:rPr dirty="0" sz="1800" spc="-10">
                <a:latin typeface="Times New Roman"/>
                <a:cs typeface="Times New Roman"/>
              </a:rPr>
              <a:t>Scikit-</a:t>
            </a:r>
            <a:r>
              <a:rPr dirty="0" sz="1800">
                <a:latin typeface="Times New Roman"/>
                <a:cs typeface="Times New Roman"/>
              </a:rPr>
              <a:t>learn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machine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evaluation OpenCV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–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processing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0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Hardware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Requirements:</a:t>
            </a:r>
            <a:endParaRPr sz="18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1430"/>
              </a:spcBef>
            </a:pPr>
            <a:r>
              <a:rPr dirty="0" sz="1800">
                <a:latin typeface="Times New Roman"/>
                <a:cs typeface="Times New Roman"/>
              </a:rPr>
              <a:t>Minimum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300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MHz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processor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128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MB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RAM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>
                <a:latin typeface="Times New Roman"/>
                <a:cs typeface="Times New Roman"/>
              </a:rPr>
              <a:t>Purpose:</a:t>
            </a:r>
            <a:endParaRPr sz="180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1425"/>
              </a:spcBef>
            </a:pPr>
            <a:r>
              <a:rPr dirty="0" sz="1800" spc="-20">
                <a:latin typeface="Times New Roman"/>
                <a:cs typeface="Times New Roman"/>
              </a:rPr>
              <a:t>To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validate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proposed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CNN–APSO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ensemble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under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consistent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software</a:t>
            </a:r>
            <a:r>
              <a:rPr dirty="0" sz="1800" spc="-25">
                <a:latin typeface="Times New Roman"/>
                <a:cs typeface="Times New Roman"/>
              </a:rPr>
              <a:t> and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800">
                <a:latin typeface="Times New Roman"/>
                <a:cs typeface="Times New Roman"/>
              </a:rPr>
              <a:t>hardware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setup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ensuring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reproducibility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scalability.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2"/>
            <a:ext cx="12192000" cy="4567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4376" y="19554"/>
            <a:ext cx="1343061" cy="7407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Result</a:t>
            </a:r>
            <a:r>
              <a:rPr dirty="0" spc="-75"/>
              <a:t> </a:t>
            </a:r>
            <a:r>
              <a:rPr dirty="0"/>
              <a:t>and</a:t>
            </a:r>
            <a:r>
              <a:rPr dirty="0" spc="-95"/>
              <a:t> </a:t>
            </a:r>
            <a:r>
              <a:rPr dirty="0" spc="-10"/>
              <a:t>Discussion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15339" y="2422905"/>
            <a:ext cx="9381490" cy="3677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209550" indent="-229235">
              <a:lnSpc>
                <a:spcPct val="11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model’s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performance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evaluated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using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Accuracy,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Precision,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Recall,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F1-Score,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Specificity, and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AUC-</a:t>
            </a:r>
            <a:r>
              <a:rPr dirty="0" sz="1800" spc="-20">
                <a:latin typeface="Times New Roman"/>
                <a:cs typeface="Times New Roman"/>
              </a:rPr>
              <a:t>ROC.</a:t>
            </a:r>
            <a:endParaRPr sz="1800">
              <a:latin typeface="Times New Roman"/>
              <a:cs typeface="Times New Roman"/>
            </a:endParaRPr>
          </a:p>
          <a:p>
            <a:pPr marL="241300" marR="528320" indent="-229235">
              <a:lnSpc>
                <a:spcPct val="11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Used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10-</a:t>
            </a:r>
            <a:r>
              <a:rPr dirty="0" sz="1800">
                <a:latin typeface="Times New Roman"/>
                <a:cs typeface="Times New Roman"/>
              </a:rPr>
              <a:t>fold</a:t>
            </a:r>
            <a:r>
              <a:rPr dirty="0" sz="1800" spc="-20">
                <a:latin typeface="Times New Roman"/>
                <a:cs typeface="Times New Roman"/>
              </a:rPr>
              <a:t> cross-</a:t>
            </a:r>
            <a:r>
              <a:rPr dirty="0" sz="1800">
                <a:latin typeface="Times New Roman"/>
                <a:cs typeface="Times New Roman"/>
              </a:rPr>
              <a:t>validation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EyePACS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dataset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avoid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overfitting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ensure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reliable performance.</a:t>
            </a:r>
            <a:endParaRPr sz="1800">
              <a:latin typeface="Times New Roman"/>
              <a:cs typeface="Times New Roman"/>
            </a:endParaRPr>
          </a:p>
          <a:p>
            <a:pPr marL="241300" marR="93345" indent="-229235">
              <a:lnSpc>
                <a:spcPct val="11000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Hybrid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CNN–APSO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achieved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highest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accuracy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(99.8%),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outperforming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other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state- of-the-</a:t>
            </a:r>
            <a:r>
              <a:rPr dirty="0" sz="1800">
                <a:latin typeface="Times New Roman"/>
                <a:cs typeface="Times New Roman"/>
              </a:rPr>
              <a:t>art</a:t>
            </a:r>
            <a:r>
              <a:rPr dirty="0" sz="1800" spc="-10">
                <a:latin typeface="Times New Roman"/>
                <a:cs typeface="Times New Roman"/>
              </a:rPr>
              <a:t> models.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2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Random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Forest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classifier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showed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best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results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AUC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=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0.99,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proving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strong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ability.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21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LIME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visualizations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highlighted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clinically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relevant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retinal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regions,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ensuring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interpretability.</a:t>
            </a:r>
            <a:endParaRPr sz="1800">
              <a:latin typeface="Times New Roman"/>
              <a:cs typeface="Times New Roman"/>
            </a:endParaRPr>
          </a:p>
          <a:p>
            <a:pPr marL="241300" marR="302895" indent="-229235">
              <a:lnSpc>
                <a:spcPct val="11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demonstrated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stable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learning,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fewer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false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predictions,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excellent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generalization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on </a:t>
            </a:r>
            <a:r>
              <a:rPr dirty="0" sz="1800">
                <a:latin typeface="Times New Roman"/>
                <a:cs typeface="Times New Roman"/>
              </a:rPr>
              <a:t>unseen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data.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2"/>
            <a:ext cx="12192000" cy="4567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4376" y="19554"/>
            <a:ext cx="1343061" cy="740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Conclusion</a:t>
            </a:r>
            <a:r>
              <a:rPr dirty="0" spc="-120"/>
              <a:t> </a:t>
            </a:r>
            <a:r>
              <a:rPr dirty="0"/>
              <a:t>&amp;</a:t>
            </a:r>
            <a:r>
              <a:rPr dirty="0" spc="-105"/>
              <a:t> </a:t>
            </a:r>
            <a:r>
              <a:rPr dirty="0" spc="-10"/>
              <a:t>Future</a:t>
            </a:r>
            <a:r>
              <a:rPr dirty="0" spc="-180"/>
              <a:t> </a:t>
            </a:r>
            <a:r>
              <a:rPr dirty="0" spc="-20"/>
              <a:t>Work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215339" y="2296923"/>
            <a:ext cx="9402445" cy="3803650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hybrid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CNN–APSO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framework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was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developed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automatic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diabetic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retinopathy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detection.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21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Preprocessing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(CLAHE,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GrabCut,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Median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Filter,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Normalization)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ensured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high-quality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retinal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image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215"/>
              </a:spcBef>
            </a:pPr>
            <a:r>
              <a:rPr dirty="0" sz="1800" spc="-10">
                <a:latin typeface="Times New Roman"/>
                <a:cs typeface="Times New Roman"/>
              </a:rPr>
              <a:t>input.</a:t>
            </a:r>
            <a:endParaRPr sz="1800">
              <a:latin typeface="Times New Roman"/>
              <a:cs typeface="Times New Roman"/>
            </a:endParaRPr>
          </a:p>
          <a:p>
            <a:pPr marL="241300" marR="1017905" indent="-229235">
              <a:lnSpc>
                <a:spcPct val="11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GoogLeNet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+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ResNet-</a:t>
            </a:r>
            <a:r>
              <a:rPr dirty="0" sz="1800">
                <a:latin typeface="Times New Roman"/>
                <a:cs typeface="Times New Roman"/>
              </a:rPr>
              <a:t>16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refined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APSO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boosted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accuracy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reduced redundancy.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22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Random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Forest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achieved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best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performance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(Accuracy: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99.8%,</a:t>
            </a:r>
            <a:r>
              <a:rPr dirty="0" sz="1800" spc="-114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AUC: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0.99)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with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strong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220"/>
              </a:spcBef>
            </a:pPr>
            <a:r>
              <a:rPr dirty="0" sz="1800">
                <a:latin typeface="Times New Roman"/>
                <a:cs typeface="Times New Roman"/>
              </a:rPr>
              <a:t>interpretability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via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LIME.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21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system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scalable,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transparent,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clinically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reliable,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ideal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large-</a:t>
            </a:r>
            <a:r>
              <a:rPr dirty="0" sz="1800">
                <a:latin typeface="Times New Roman"/>
                <a:cs typeface="Times New Roman"/>
              </a:rPr>
              <a:t>scale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screening.</a:t>
            </a:r>
            <a:endParaRPr sz="1800">
              <a:latin typeface="Times New Roman"/>
              <a:cs typeface="Times New Roman"/>
            </a:endParaRPr>
          </a:p>
          <a:p>
            <a:pPr marL="241300" marR="349250" indent="-229235">
              <a:lnSpc>
                <a:spcPct val="11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Future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Work: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Extend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multi-</a:t>
            </a:r>
            <a:r>
              <a:rPr dirty="0" sz="1800">
                <a:latin typeface="Times New Roman"/>
                <a:cs typeface="Times New Roman"/>
              </a:rPr>
              <a:t>class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severity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grading,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add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statistical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validation,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deploy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20">
                <a:latin typeface="Times New Roman"/>
                <a:cs typeface="Times New Roman"/>
              </a:rPr>
              <a:t>GPU- </a:t>
            </a:r>
            <a:r>
              <a:rPr dirty="0" sz="1800">
                <a:latin typeface="Times New Roman"/>
                <a:cs typeface="Times New Roman"/>
              </a:rPr>
              <a:t>optimized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clinical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models.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2"/>
            <a:ext cx="12192000" cy="4567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4376" y="19554"/>
            <a:ext cx="1343061" cy="7407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9619" y="593852"/>
            <a:ext cx="238315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References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79424" y="1048003"/>
            <a:ext cx="9312275" cy="5246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2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23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research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papers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were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cited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from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IEEE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Access,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Computers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Biology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&amp;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Medicine,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Procedia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25">
                <a:latin typeface="Times New Roman"/>
                <a:cs typeface="Times New Roman"/>
              </a:rPr>
              <a:t>CS, </a:t>
            </a:r>
            <a:r>
              <a:rPr dirty="0" sz="1800">
                <a:latin typeface="Times New Roman"/>
                <a:cs typeface="Times New Roman"/>
              </a:rPr>
              <a:t>Sensors,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arXiv.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43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References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mainly</a:t>
            </a:r>
            <a:r>
              <a:rPr dirty="0" sz="1800" spc="-5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cover:</a:t>
            </a:r>
            <a:endParaRPr sz="1800">
              <a:latin typeface="Times New Roman"/>
              <a:cs typeface="Times New Roman"/>
            </a:endParaRPr>
          </a:p>
          <a:p>
            <a:pPr marL="927100" marR="2418080">
              <a:lnSpc>
                <a:spcPct val="166100"/>
              </a:lnSpc>
              <a:spcBef>
                <a:spcPts val="10"/>
              </a:spcBef>
            </a:pPr>
            <a:r>
              <a:rPr dirty="0" sz="1800">
                <a:latin typeface="Times New Roman"/>
                <a:cs typeface="Times New Roman"/>
              </a:rPr>
              <a:t>Deep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Learning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Vision</a:t>
            </a:r>
            <a:r>
              <a:rPr dirty="0" sz="1800" spc="-6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Transformer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models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DR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detection. Explainable</a:t>
            </a:r>
            <a:r>
              <a:rPr dirty="0" sz="1800" spc="-1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AI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(XAI)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techniques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transparent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diagnosis.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430"/>
              </a:spcBef>
            </a:pPr>
            <a:r>
              <a:rPr dirty="0" sz="1800">
                <a:latin typeface="Times New Roman"/>
                <a:cs typeface="Times New Roman"/>
              </a:rPr>
              <a:t>Hybrid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CNN–Ensemble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Optimization-based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selection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studies.</a:t>
            </a:r>
            <a:endParaRPr sz="1800">
              <a:latin typeface="Times New Roman"/>
              <a:cs typeface="Times New Roman"/>
            </a:endParaRPr>
          </a:p>
          <a:p>
            <a:pPr marL="240665" marR="5749290" indent="-227965">
              <a:lnSpc>
                <a:spcPct val="166100"/>
              </a:lnSpc>
              <a:spcBef>
                <a:spcPts val="15"/>
              </a:spcBef>
              <a:buFont typeface="Arial MT"/>
              <a:buChar char="•"/>
              <a:tabLst>
                <a:tab pos="927100" algn="l"/>
              </a:tabLst>
            </a:pPr>
            <a:r>
              <a:rPr dirty="0" sz="1800">
                <a:latin typeface="Times New Roman"/>
                <a:cs typeface="Times New Roman"/>
              </a:rPr>
              <a:t>Key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inspirations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include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works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like: </a:t>
            </a:r>
            <a:r>
              <a:rPr dirty="0" sz="1800" spc="-10">
                <a:latin typeface="Times New Roman"/>
                <a:cs typeface="Times New Roman"/>
              </a:rPr>
              <a:t>	</a:t>
            </a:r>
            <a:r>
              <a:rPr dirty="0" sz="1800" spc="-20">
                <a:latin typeface="Times New Roman"/>
                <a:cs typeface="Times New Roman"/>
              </a:rPr>
              <a:t>ResViT</a:t>
            </a:r>
            <a:r>
              <a:rPr dirty="0" sz="1800" spc="-8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FusionNet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(2025)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425"/>
              </a:spcBef>
            </a:pPr>
            <a:r>
              <a:rPr dirty="0" sz="1800" spc="-20">
                <a:latin typeface="Times New Roman"/>
                <a:cs typeface="Times New Roman"/>
              </a:rPr>
              <a:t>EffNet-</a:t>
            </a:r>
            <a:r>
              <a:rPr dirty="0" sz="1800">
                <a:latin typeface="Times New Roman"/>
                <a:cs typeface="Times New Roman"/>
              </a:rPr>
              <a:t>SVM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(2025)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445"/>
              </a:spcBef>
            </a:pPr>
            <a:r>
              <a:rPr dirty="0" sz="1800" spc="-10">
                <a:latin typeface="Times New Roman"/>
                <a:cs typeface="Times New Roman"/>
              </a:rPr>
              <a:t>MSAMix-</a:t>
            </a:r>
            <a:r>
              <a:rPr dirty="0" sz="1800">
                <a:latin typeface="Times New Roman"/>
                <a:cs typeface="Times New Roman"/>
              </a:rPr>
              <a:t>Net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(2024)</a:t>
            </a:r>
            <a:endParaRPr sz="18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1425"/>
              </a:spcBef>
            </a:pPr>
            <a:r>
              <a:rPr dirty="0" sz="1800">
                <a:latin typeface="Times New Roman"/>
                <a:cs typeface="Times New Roman"/>
              </a:rPr>
              <a:t>ExplAIn</a:t>
            </a:r>
            <a:r>
              <a:rPr dirty="0" sz="1800" spc="-8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Framework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(2021)</a:t>
            </a:r>
            <a:endParaRPr sz="1800">
              <a:latin typeface="Times New Roman"/>
              <a:cs typeface="Times New Roman"/>
            </a:endParaRPr>
          </a:p>
          <a:p>
            <a:pPr marL="240665" indent="-227965">
              <a:lnSpc>
                <a:spcPct val="100000"/>
              </a:lnSpc>
              <a:spcBef>
                <a:spcPts val="143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imes New Roman"/>
                <a:cs typeface="Times New Roman"/>
              </a:rPr>
              <a:t>Builds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upon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recent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AI-</a:t>
            </a:r>
            <a:r>
              <a:rPr dirty="0" sz="1800">
                <a:latin typeface="Times New Roman"/>
                <a:cs typeface="Times New Roman"/>
              </a:rPr>
              <a:t>driven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medical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imaging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research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(2021–2025).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2"/>
            <a:ext cx="12192000" cy="45676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4376" y="19554"/>
            <a:ext cx="1343061" cy="7407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9619" y="593852"/>
            <a:ext cx="689229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Reviewer</a:t>
            </a:r>
            <a:r>
              <a:rPr dirty="0" spc="-200"/>
              <a:t> </a:t>
            </a:r>
            <a:r>
              <a:rPr dirty="0" spc="-25"/>
              <a:t>Comments</a:t>
            </a:r>
            <a:r>
              <a:rPr dirty="0" spc="-225"/>
              <a:t> </a:t>
            </a:r>
            <a:r>
              <a:rPr dirty="0" spc="-10"/>
              <a:t>Addressed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00802"/>
            <a:ext cx="12192000" cy="45676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94376" y="19554"/>
            <a:ext cx="1343061" cy="740755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All</a:t>
            </a:r>
            <a:r>
              <a:rPr dirty="0" spc="-15"/>
              <a:t> </a:t>
            </a:r>
            <a:r>
              <a:rPr dirty="0"/>
              <a:t>reviewers</a:t>
            </a:r>
            <a:r>
              <a:rPr dirty="0" spc="-25"/>
              <a:t> </a:t>
            </a:r>
            <a:r>
              <a:rPr dirty="0"/>
              <a:t>emphasized</a:t>
            </a:r>
            <a:r>
              <a:rPr dirty="0" spc="-2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need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/>
              <a:t>improve</a:t>
            </a:r>
            <a:r>
              <a:rPr dirty="0" spc="-20"/>
              <a:t> </a:t>
            </a:r>
            <a:r>
              <a:rPr dirty="0"/>
              <a:t>English</a:t>
            </a:r>
            <a:r>
              <a:rPr dirty="0" spc="-25"/>
              <a:t> </a:t>
            </a:r>
            <a:r>
              <a:rPr dirty="0"/>
              <a:t>grammar,</a:t>
            </a:r>
            <a:r>
              <a:rPr dirty="0" spc="-5"/>
              <a:t> </a:t>
            </a:r>
            <a:r>
              <a:rPr dirty="0"/>
              <a:t>academic</a:t>
            </a:r>
            <a:r>
              <a:rPr dirty="0" spc="-25"/>
              <a:t> </a:t>
            </a:r>
            <a:r>
              <a:rPr dirty="0"/>
              <a:t>tone</a:t>
            </a:r>
            <a:r>
              <a:rPr dirty="0" spc="-10"/>
              <a:t> </a:t>
            </a:r>
            <a:r>
              <a:rPr dirty="0"/>
              <a:t>(avoid</a:t>
            </a:r>
            <a:r>
              <a:rPr dirty="0" spc="-15"/>
              <a:t> </a:t>
            </a:r>
            <a:r>
              <a:rPr dirty="0"/>
              <a:t>first-</a:t>
            </a:r>
            <a:r>
              <a:rPr dirty="0" spc="-10"/>
              <a:t>person</a:t>
            </a: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/>
              <a:t>pronouns),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adhere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IEEE</a:t>
            </a:r>
            <a:r>
              <a:rPr dirty="0" spc="-40"/>
              <a:t> </a:t>
            </a:r>
            <a:r>
              <a:rPr dirty="0"/>
              <a:t>formatting</a:t>
            </a:r>
            <a:r>
              <a:rPr dirty="0" spc="-50"/>
              <a:t> </a:t>
            </a:r>
            <a:r>
              <a:rPr dirty="0" spc="-10"/>
              <a:t>standards.</a:t>
            </a: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/>
              <a:t>Multiple</a:t>
            </a:r>
            <a:r>
              <a:rPr dirty="0" spc="-55"/>
              <a:t> </a:t>
            </a:r>
            <a:r>
              <a:rPr dirty="0"/>
              <a:t>reviewers</a:t>
            </a:r>
            <a:r>
              <a:rPr dirty="0" spc="-40"/>
              <a:t> </a:t>
            </a:r>
            <a:r>
              <a:rPr dirty="0"/>
              <a:t>noted</a:t>
            </a:r>
            <a:r>
              <a:rPr dirty="0" spc="-40"/>
              <a:t> </a:t>
            </a:r>
            <a:r>
              <a:rPr dirty="0"/>
              <a:t>that</a:t>
            </a:r>
            <a:r>
              <a:rPr dirty="0" spc="-45"/>
              <a:t> </a:t>
            </a:r>
            <a:r>
              <a:rPr dirty="0"/>
              <a:t>several</a:t>
            </a:r>
            <a:r>
              <a:rPr dirty="0" spc="-30"/>
              <a:t> </a:t>
            </a:r>
            <a:r>
              <a:rPr dirty="0"/>
              <a:t>figures</a:t>
            </a:r>
            <a:r>
              <a:rPr dirty="0" spc="-40"/>
              <a:t> </a:t>
            </a:r>
            <a:r>
              <a:rPr dirty="0"/>
              <a:t>are</a:t>
            </a:r>
            <a:r>
              <a:rPr dirty="0" spc="-30"/>
              <a:t> </a:t>
            </a:r>
            <a:r>
              <a:rPr dirty="0" spc="-10"/>
              <a:t>unclear,</a:t>
            </a:r>
            <a:r>
              <a:rPr dirty="0" spc="-45"/>
              <a:t> </a:t>
            </a:r>
            <a:r>
              <a:rPr dirty="0"/>
              <a:t>low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30"/>
              <a:t> </a:t>
            </a:r>
            <a:r>
              <a:rPr dirty="0"/>
              <a:t>resolution,</a:t>
            </a:r>
            <a:r>
              <a:rPr dirty="0" spc="-45"/>
              <a:t> </a:t>
            </a:r>
            <a:r>
              <a:rPr dirty="0"/>
              <a:t>or</a:t>
            </a:r>
            <a:r>
              <a:rPr dirty="0" spc="-25"/>
              <a:t> </a:t>
            </a:r>
            <a:r>
              <a:rPr dirty="0"/>
              <a:t>not</a:t>
            </a:r>
            <a:r>
              <a:rPr dirty="0" spc="-30"/>
              <a:t> </a:t>
            </a:r>
            <a:r>
              <a:rPr dirty="0"/>
              <a:t>properly</a:t>
            </a:r>
            <a:r>
              <a:rPr dirty="0" spc="-35"/>
              <a:t> </a:t>
            </a:r>
            <a:r>
              <a:rPr dirty="0" spc="-10"/>
              <a:t>referenced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text.</a:t>
            </a:r>
            <a:r>
              <a:rPr dirty="0" spc="-40"/>
              <a:t> </a:t>
            </a:r>
            <a:r>
              <a:rPr dirty="0"/>
              <a:t>Consistency</a:t>
            </a:r>
            <a:r>
              <a:rPr dirty="0" spc="-25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figure</a:t>
            </a:r>
            <a:r>
              <a:rPr dirty="0" spc="-25"/>
              <a:t> </a:t>
            </a:r>
            <a:r>
              <a:rPr dirty="0" spc="-10"/>
              <a:t>labeling</a:t>
            </a:r>
          </a:p>
          <a:p>
            <a:pPr marL="299085" marR="77279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/>
              <a:t>Reviewers</a:t>
            </a:r>
            <a:r>
              <a:rPr dirty="0" spc="-55"/>
              <a:t> </a:t>
            </a:r>
            <a:r>
              <a:rPr dirty="0"/>
              <a:t>suggested</a:t>
            </a:r>
            <a:r>
              <a:rPr dirty="0" spc="-45"/>
              <a:t> </a:t>
            </a:r>
            <a:r>
              <a:rPr dirty="0"/>
              <a:t>that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authors</a:t>
            </a:r>
            <a:r>
              <a:rPr dirty="0" spc="-50"/>
              <a:t> </a:t>
            </a:r>
            <a:r>
              <a:rPr dirty="0"/>
              <a:t>more</a:t>
            </a:r>
            <a:r>
              <a:rPr dirty="0" spc="-45"/>
              <a:t> </a:t>
            </a:r>
            <a:r>
              <a:rPr dirty="0"/>
              <a:t>clearly</a:t>
            </a:r>
            <a:r>
              <a:rPr dirty="0" spc="-55"/>
              <a:t> </a:t>
            </a:r>
            <a:r>
              <a:rPr dirty="0"/>
              <a:t>highlight</a:t>
            </a:r>
            <a:r>
              <a:rPr dirty="0" spc="-55"/>
              <a:t> </a:t>
            </a:r>
            <a:r>
              <a:rPr dirty="0"/>
              <a:t>their</a:t>
            </a:r>
            <a:r>
              <a:rPr dirty="0" spc="-40"/>
              <a:t> </a:t>
            </a:r>
            <a:r>
              <a:rPr dirty="0"/>
              <a:t>specific</a:t>
            </a:r>
            <a:r>
              <a:rPr dirty="0" spc="-55"/>
              <a:t> </a:t>
            </a:r>
            <a:r>
              <a:rPr dirty="0"/>
              <a:t>contributions</a:t>
            </a:r>
            <a:r>
              <a:rPr dirty="0" spc="-55"/>
              <a:t> </a:t>
            </a:r>
            <a:r>
              <a:rPr dirty="0"/>
              <a:t>in</a:t>
            </a:r>
            <a:r>
              <a:rPr dirty="0" spc="-45"/>
              <a:t> </a:t>
            </a:r>
            <a:r>
              <a:rPr dirty="0" spc="-25"/>
              <a:t>the </a:t>
            </a:r>
            <a:r>
              <a:rPr dirty="0"/>
              <a:t>introduction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present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model</a:t>
            </a:r>
            <a:r>
              <a:rPr dirty="0" spc="-35"/>
              <a:t> </a:t>
            </a:r>
            <a:r>
              <a:rPr dirty="0"/>
              <a:t>framework</a:t>
            </a:r>
            <a:r>
              <a:rPr dirty="0" spc="-25"/>
              <a:t> </a:t>
            </a:r>
            <a:r>
              <a:rPr dirty="0"/>
              <a:t>more</a:t>
            </a:r>
            <a:r>
              <a:rPr dirty="0" spc="-25"/>
              <a:t> </a:t>
            </a:r>
            <a:r>
              <a:rPr dirty="0" spc="-10"/>
              <a:t>effectively</a:t>
            </a:r>
            <a:r>
              <a:rPr dirty="0" spc="-65"/>
              <a:t> </a:t>
            </a:r>
            <a:r>
              <a:rPr dirty="0"/>
              <a:t>with</a:t>
            </a:r>
            <a:r>
              <a:rPr dirty="0" spc="-30"/>
              <a:t> </a:t>
            </a:r>
            <a:r>
              <a:rPr dirty="0"/>
              <a:t>better</a:t>
            </a:r>
            <a:r>
              <a:rPr dirty="0" spc="-30"/>
              <a:t> </a:t>
            </a:r>
            <a:r>
              <a:rPr dirty="0"/>
              <a:t>structural</a:t>
            </a:r>
            <a:r>
              <a:rPr dirty="0" spc="-45"/>
              <a:t> </a:t>
            </a:r>
            <a:r>
              <a:rPr dirty="0" spc="-10"/>
              <a:t>clarity.</a:t>
            </a:r>
          </a:p>
          <a:p>
            <a:pPr marL="299085" marR="32639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/>
              <a:t>While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proposed hybrid</a:t>
            </a:r>
            <a:r>
              <a:rPr dirty="0" spc="-30"/>
              <a:t> </a:t>
            </a:r>
            <a:r>
              <a:rPr dirty="0"/>
              <a:t>deep</a:t>
            </a:r>
            <a:r>
              <a:rPr dirty="0" spc="-15"/>
              <a:t> </a:t>
            </a:r>
            <a:r>
              <a:rPr dirty="0"/>
              <a:t>learning–machine</a:t>
            </a:r>
            <a:r>
              <a:rPr dirty="0" spc="-35"/>
              <a:t> </a:t>
            </a:r>
            <a:r>
              <a:rPr dirty="0"/>
              <a:t>learning</a:t>
            </a:r>
            <a:r>
              <a:rPr dirty="0" spc="-25"/>
              <a:t> </a:t>
            </a:r>
            <a:r>
              <a:rPr dirty="0"/>
              <a:t>framework is</a:t>
            </a:r>
            <a:r>
              <a:rPr dirty="0" spc="-5"/>
              <a:t> </a:t>
            </a:r>
            <a:r>
              <a:rPr dirty="0"/>
              <a:t>appreciated,</a:t>
            </a:r>
            <a:r>
              <a:rPr dirty="0" spc="-45"/>
              <a:t> </a:t>
            </a:r>
            <a:r>
              <a:rPr dirty="0" spc="-10"/>
              <a:t>reviewers </a:t>
            </a:r>
            <a:r>
              <a:rPr dirty="0"/>
              <a:t>recommended</a:t>
            </a:r>
            <a:r>
              <a:rPr dirty="0" spc="-45"/>
              <a:t> </a:t>
            </a:r>
            <a:r>
              <a:rPr dirty="0"/>
              <a:t>including</a:t>
            </a:r>
            <a:r>
              <a:rPr dirty="0" spc="-40"/>
              <a:t> </a:t>
            </a:r>
            <a:r>
              <a:rPr dirty="0"/>
              <a:t>formal</a:t>
            </a:r>
            <a:r>
              <a:rPr dirty="0" spc="-30"/>
              <a:t> </a:t>
            </a:r>
            <a:r>
              <a:rPr dirty="0"/>
              <a:t>equations,</a:t>
            </a:r>
            <a:r>
              <a:rPr dirty="0" spc="-50"/>
              <a:t> </a:t>
            </a:r>
            <a:r>
              <a:rPr dirty="0"/>
              <a:t>statistical</a:t>
            </a:r>
            <a:r>
              <a:rPr dirty="0" spc="-60"/>
              <a:t> </a:t>
            </a:r>
            <a:r>
              <a:rPr dirty="0"/>
              <a:t>validation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30"/>
              <a:t> </a:t>
            </a:r>
            <a:r>
              <a:rPr dirty="0"/>
              <a:t>results,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addressing</a:t>
            </a:r>
            <a:r>
              <a:rPr dirty="0" spc="-35"/>
              <a:t> </a:t>
            </a:r>
            <a:r>
              <a:rPr dirty="0" spc="-10"/>
              <a:t>potential </a:t>
            </a:r>
            <a:r>
              <a:rPr dirty="0"/>
              <a:t>overfitting</a:t>
            </a:r>
            <a:r>
              <a:rPr dirty="0" spc="-75"/>
              <a:t> </a:t>
            </a:r>
            <a:r>
              <a:rPr dirty="0"/>
              <a:t>to</a:t>
            </a:r>
            <a:r>
              <a:rPr dirty="0" spc="-40"/>
              <a:t> </a:t>
            </a:r>
            <a:r>
              <a:rPr dirty="0"/>
              <a:t>strengthen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study’s</a:t>
            </a:r>
            <a:r>
              <a:rPr dirty="0" spc="-65"/>
              <a:t> </a:t>
            </a:r>
            <a:r>
              <a:rPr dirty="0" spc="-10"/>
              <a:t>credibility.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3697" y="2168474"/>
            <a:ext cx="252539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90" b="0">
                <a:solidFill>
                  <a:srgbClr val="FFFFFF"/>
                </a:solidFill>
                <a:latin typeface="Trebuchet MS"/>
                <a:cs typeface="Trebuchet MS"/>
              </a:rPr>
              <a:t>Thank</a:t>
            </a:r>
            <a:r>
              <a:rPr dirty="0" sz="4800" spc="-525" b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800" spc="-320" b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endParaRPr sz="4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Prangya Priyadarshini</dc:creator>
  <dcterms:created xsi:type="dcterms:W3CDTF">2026-02-12T05:09:10Z</dcterms:created>
  <dcterms:modified xsi:type="dcterms:W3CDTF">2026-02-12T05:09:10Z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2026-02-12T00:00:00Z</vt:filetime>
  </property>
  <property fmtid="{D5CDD505-2E9C-101B-9397-08002B2CF9AE}" pid="5" name="Producer">
    <vt:lpwstr>Microsoft® PowerPoint® 2021</vt:lpwstr>
  </property>
</Properties>
</file>